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4" r:id="rId4"/>
    <p:sldId id="272" r:id="rId5"/>
    <p:sldId id="259" r:id="rId6"/>
    <p:sldId id="260" r:id="rId7"/>
    <p:sldId id="261" r:id="rId8"/>
    <p:sldId id="27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17BB0-E731-A23D-4B27-340C4A640003}" v="2" dt="2026-04-29T13:46:29.184"/>
    <p1510:client id="{82970EE7-93B9-69C8-0732-50EC9BB7D6BE}" v="90" dt="2026-04-29T14:30:47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da Silva Santos" userId="S::joao.santos@gimm.pt::1f5cc2bd-5f8d-4df4-b23f-ee79078e001f" providerId="AD" clId="Web-{82970EE7-93B9-69C8-0732-50EC9BB7D6BE}"/>
    <pc:docChg chg="addSld delSld modSld sldOrd">
      <pc:chgData name="João da Silva Santos" userId="S::joao.santos@gimm.pt::1f5cc2bd-5f8d-4df4-b23f-ee79078e001f" providerId="AD" clId="Web-{82970EE7-93B9-69C8-0732-50EC9BB7D6BE}" dt="2026-04-29T14:30:47.301" v="88"/>
      <pc:docMkLst>
        <pc:docMk/>
      </pc:docMkLst>
      <pc:sldChg chg="addSp modSp del">
        <pc:chgData name="João da Silva Santos" userId="S::joao.santos@gimm.pt::1f5cc2bd-5f8d-4df4-b23f-ee79078e001f" providerId="AD" clId="Web-{82970EE7-93B9-69C8-0732-50EC9BB7D6BE}" dt="2026-04-29T14:06:18.910" v="1"/>
        <pc:sldMkLst>
          <pc:docMk/>
          <pc:sldMk cId="0" sldId="258"/>
        </pc:sldMkLst>
        <pc:picChg chg="add mod">
          <ac:chgData name="João da Silva Santos" userId="S::joao.santos@gimm.pt::1f5cc2bd-5f8d-4df4-b23f-ee79078e001f" providerId="AD" clId="Web-{82970EE7-93B9-69C8-0732-50EC9BB7D6BE}" dt="2026-04-29T14:05:49.425" v="0"/>
          <ac:picMkLst>
            <pc:docMk/>
            <pc:sldMk cId="0" sldId="258"/>
            <ac:picMk id="5" creationId="{151695B6-92B5-E9C0-14D3-A91172B862B0}"/>
          </ac:picMkLst>
        </pc:picChg>
      </pc:sldChg>
      <pc:sldChg chg="modSp">
        <pc:chgData name="João da Silva Santos" userId="S::joao.santos@gimm.pt::1f5cc2bd-5f8d-4df4-b23f-ee79078e001f" providerId="AD" clId="Web-{82970EE7-93B9-69C8-0732-50EC9BB7D6BE}" dt="2026-04-29T14:09:42.603" v="17" actId="20577"/>
        <pc:sldMkLst>
          <pc:docMk/>
          <pc:sldMk cId="0" sldId="265"/>
        </pc:sldMkLst>
        <pc:spChg chg="mod">
          <ac:chgData name="João da Silva Santos" userId="S::joao.santos@gimm.pt::1f5cc2bd-5f8d-4df4-b23f-ee79078e001f" providerId="AD" clId="Web-{82970EE7-93B9-69C8-0732-50EC9BB7D6BE}" dt="2026-04-29T14:09:42.603" v="17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82970EE7-93B9-69C8-0732-50EC9BB7D6BE}" dt="2026-04-29T14:09:31.587" v="12" actId="20577"/>
        <pc:sldMkLst>
          <pc:docMk/>
          <pc:sldMk cId="0" sldId="266"/>
        </pc:sldMkLst>
        <pc:spChg chg="mod">
          <ac:chgData name="João da Silva Santos" userId="S::joao.santos@gimm.pt::1f5cc2bd-5f8d-4df4-b23f-ee79078e001f" providerId="AD" clId="Web-{82970EE7-93B9-69C8-0732-50EC9BB7D6BE}" dt="2026-04-29T14:09:31.587" v="12" actId="20577"/>
          <ac:spMkLst>
            <pc:docMk/>
            <pc:sldMk cId="0" sldId="266"/>
            <ac:spMk id="6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82970EE7-93B9-69C8-0732-50EC9BB7D6BE}" dt="2026-04-29T14:10:14.198" v="40" actId="20577"/>
        <pc:sldMkLst>
          <pc:docMk/>
          <pc:sldMk cId="0" sldId="267"/>
        </pc:sldMkLst>
        <pc:spChg chg="mod">
          <ac:chgData name="João da Silva Santos" userId="S::joao.santos@gimm.pt::1f5cc2bd-5f8d-4df4-b23f-ee79078e001f" providerId="AD" clId="Web-{82970EE7-93B9-69C8-0732-50EC9BB7D6BE}" dt="2026-04-29T14:10:14.198" v="40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82970EE7-93B9-69C8-0732-50EC9BB7D6BE}" dt="2026-04-29T14:10:58.184" v="56" actId="20577"/>
        <pc:sldMkLst>
          <pc:docMk/>
          <pc:sldMk cId="0" sldId="268"/>
        </pc:sldMkLst>
        <pc:spChg chg="mod">
          <ac:chgData name="João da Silva Santos" userId="S::joao.santos@gimm.pt::1f5cc2bd-5f8d-4df4-b23f-ee79078e001f" providerId="AD" clId="Web-{82970EE7-93B9-69C8-0732-50EC9BB7D6BE}" dt="2026-04-29T14:10:58.184" v="56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82970EE7-93B9-69C8-0732-50EC9BB7D6BE}" dt="2026-04-29T14:29:42.207" v="70" actId="20577"/>
        <pc:sldMkLst>
          <pc:docMk/>
          <pc:sldMk cId="0" sldId="269"/>
        </pc:sldMkLst>
        <pc:spChg chg="mod">
          <ac:chgData name="João da Silva Santos" userId="S::joao.santos@gimm.pt::1f5cc2bd-5f8d-4df4-b23f-ee79078e001f" providerId="AD" clId="Web-{82970EE7-93B9-69C8-0732-50EC9BB7D6BE}" dt="2026-04-29T14:29:42.207" v="70" actId="20577"/>
          <ac:spMkLst>
            <pc:docMk/>
            <pc:sldMk cId="0" sldId="269"/>
            <ac:spMk id="8" creationId="{00000000-0000-0000-0000-000000000000}"/>
          </ac:spMkLst>
        </pc:spChg>
      </pc:sldChg>
      <pc:sldChg chg="add ord">
        <pc:chgData name="João da Silva Santos" userId="S::joao.santos@gimm.pt::1f5cc2bd-5f8d-4df4-b23f-ee79078e001f" providerId="AD" clId="Web-{82970EE7-93B9-69C8-0732-50EC9BB7D6BE}" dt="2026-04-29T14:06:31.488" v="3"/>
        <pc:sldMkLst>
          <pc:docMk/>
          <pc:sldMk cId="2402306163" sldId="272"/>
        </pc:sldMkLst>
      </pc:sldChg>
      <pc:sldChg chg="add del ord">
        <pc:chgData name="João da Silva Santos" userId="S::joao.santos@gimm.pt::1f5cc2bd-5f8d-4df4-b23f-ee79078e001f" providerId="AD" clId="Web-{82970EE7-93B9-69C8-0732-50EC9BB7D6BE}" dt="2026-04-29T14:30:47.301" v="88"/>
        <pc:sldMkLst>
          <pc:docMk/>
          <pc:sldMk cId="2684123954" sldId="273"/>
        </pc:sldMkLst>
      </pc:sldChg>
      <pc:sldChg chg="modSp add ord replId">
        <pc:chgData name="João da Silva Santos" userId="S::joao.santos@gimm.pt::1f5cc2bd-5f8d-4df4-b23f-ee79078e001f" providerId="AD" clId="Web-{82970EE7-93B9-69C8-0732-50EC9BB7D6BE}" dt="2026-04-29T14:30:09.285" v="85" actId="20577"/>
        <pc:sldMkLst>
          <pc:docMk/>
          <pc:sldMk cId="3694180287" sldId="274"/>
        </pc:sldMkLst>
        <pc:spChg chg="mod">
          <ac:chgData name="João da Silva Santos" userId="S::joao.santos@gimm.pt::1f5cc2bd-5f8d-4df4-b23f-ee79078e001f" providerId="AD" clId="Web-{82970EE7-93B9-69C8-0732-50EC9BB7D6BE}" dt="2026-04-29T14:30:04.395" v="84" actId="20577"/>
          <ac:spMkLst>
            <pc:docMk/>
            <pc:sldMk cId="3694180287" sldId="274"/>
            <ac:spMk id="3" creationId="{0884AF63-8D2D-1A9B-E1B9-5F26ABB93EE8}"/>
          </ac:spMkLst>
        </pc:spChg>
        <pc:spChg chg="mod">
          <ac:chgData name="João da Silva Santos" userId="S::joao.santos@gimm.pt::1f5cc2bd-5f8d-4df4-b23f-ee79078e001f" providerId="AD" clId="Web-{82970EE7-93B9-69C8-0732-50EC9BB7D6BE}" dt="2026-04-29T14:30:09.285" v="85" actId="20577"/>
          <ac:spMkLst>
            <pc:docMk/>
            <pc:sldMk cId="3694180287" sldId="274"/>
            <ac:spMk id="4" creationId="{A154F365-CBAB-8488-E4DA-B24A02141834}"/>
          </ac:spMkLst>
        </pc:spChg>
      </pc:sldChg>
      <pc:sldChg chg="add ord">
        <pc:chgData name="João da Silva Santos" userId="S::joao.santos@gimm.pt::1f5cc2bd-5f8d-4df4-b23f-ee79078e001f" providerId="AD" clId="Web-{82970EE7-93B9-69C8-0732-50EC9BB7D6BE}" dt="2026-04-29T14:30:40.801" v="87"/>
        <pc:sldMkLst>
          <pc:docMk/>
          <pc:sldMk cId="1399881870" sldId="275"/>
        </pc:sldMkLst>
      </pc:sldChg>
    </pc:docChg>
  </pc:docChgLst>
  <pc:docChgLst>
    <pc:chgData name="João da Silva Santos" userId="S::joao.santos@gimm.pt::1f5cc2bd-5f8d-4df4-b23f-ee79078e001f" providerId="AD" clId="Web-{0AB17BB0-E731-A23D-4B27-340C4A640003}"/>
    <pc:docChg chg="mod modSld">
      <pc:chgData name="João da Silva Santos" userId="S::joao.santos@gimm.pt::1f5cc2bd-5f8d-4df4-b23f-ee79078e001f" providerId="AD" clId="Web-{0AB17BB0-E731-A23D-4B27-340C4A640003}" dt="2026-04-29T13:46:29.184" v="2" actId="20577"/>
      <pc:docMkLst>
        <pc:docMk/>
      </pc:docMkLst>
      <pc:sldChg chg="modSp">
        <pc:chgData name="João da Silva Santos" userId="S::joao.santos@gimm.pt::1f5cc2bd-5f8d-4df4-b23f-ee79078e001f" providerId="AD" clId="Web-{0AB17BB0-E731-A23D-4B27-340C4A640003}" dt="2026-04-29T13:46:29.184" v="2" actId="20577"/>
        <pc:sldMkLst>
          <pc:docMk/>
          <pc:sldMk cId="0" sldId="259"/>
        </pc:sldMkLst>
        <pc:spChg chg="mod">
          <ac:chgData name="João da Silva Santos" userId="S::joao.santos@gimm.pt::1f5cc2bd-5f8d-4df4-b23f-ee79078e001f" providerId="AD" clId="Web-{0AB17BB0-E731-A23D-4B27-340C4A640003}" dt="2026-04-29T13:46:26.918" v="1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ão da Silva Santos" userId="S::joao.santos@gimm.pt::1f5cc2bd-5f8d-4df4-b23f-ee79078e001f" providerId="AD" clId="Web-{0AB17BB0-E731-A23D-4B27-340C4A640003}" dt="2026-04-29T13:46:29.184" v="2" actId="20577"/>
          <ac:spMkLst>
            <pc:docMk/>
            <pc:sldMk cId="0" sldId="259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33E1C-065A-444D-A9A0-8D985B701EBD}" type="datetimeFigureOut">
              <a:t>4/29/2026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B1473-B163-4C05-B066-DBC0479D6EA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33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8BD7-48A2-FD7A-4553-D338A71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3029B-07B9-B717-FD73-4E777E089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E778D-E38B-0889-4BB3-C3A64661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024E-172A-B49D-D17C-81560996D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2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Data Structures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dictionaries, sets, and file I/O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COURSE · DAY 3 OF 5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530352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Tuples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114300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11430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61772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530352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5303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unordered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114300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Comprehensions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shortcut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530352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I/O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53035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 files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E8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C6F89-A9E1-7D59-56D9-C44502A8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E2E6ED-D60D-1CFA-95C5-19B9C5AEDFA5}"/>
              </a:ext>
            </a:extLst>
          </p:cNvPr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84AF63-8D2D-1A9B-E1B9-5F26ABB93EE8}"/>
              </a:ext>
            </a:extLst>
          </p:cNvPr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FFFFFF"/>
                </a:solidFill>
                <a:latin typeface="Georgia"/>
              </a:rPr>
              <a:t>Lists &amp; Tuples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54F365-CBAB-8488-E4DA-B24A02141834}"/>
              </a:ext>
            </a:extLst>
          </p:cNvPr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i="1">
              <a:solidFill>
                <a:srgbClr val="CADCFC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4180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0861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kern="0" spc="600">
                <a:solidFill>
                  <a:srgbClr val="2E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54864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425196" y="1220724"/>
            <a:ext cx="109728" cy="109728"/>
          </a:xfrm>
          <a:prstGeom prst="ellipse">
            <a:avLst/>
          </a:prstGeom>
          <a:solidFill>
            <a:srgbClr val="E0A92E"/>
          </a:solidFill>
          <a:ln w="12700">
            <a:solidFill>
              <a:srgbClr val="E0A92E"/>
            </a:solidFill>
            <a:prstDash val="solid"/>
          </a:ln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T" sz="1013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77190" y="1405890"/>
          <a:ext cx="8366760" cy="330708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.append(x)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x to the end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[1, 2]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nums.append(3)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.extend(it)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each item from iterable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[1, 2]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nums.extend([3, 4])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3, 4]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.insert(i, x)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x at position 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[1, 3]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nums.insert(1, 2)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.pop(i=-1)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&amp; return item at 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[1, 2, 3]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nums.pop()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  → [1, 2]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.remove(x)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first occurrence of 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[1, 2, 3]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nums.remove(2)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3]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.sort()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in place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[3, 1, 2]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nums.sort()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77190" y="4629150"/>
            <a:ext cx="8366760" cy="308610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T" sz="1013"/>
          </a:p>
        </p:txBody>
      </p:sp>
      <p:sp>
        <p:nvSpPr>
          <p:cNvPr id="7" name="Shape 4"/>
          <p:cNvSpPr/>
          <p:nvPr/>
        </p:nvSpPr>
        <p:spPr>
          <a:xfrm>
            <a:off x="377190" y="4629150"/>
            <a:ext cx="54864" cy="308610"/>
          </a:xfrm>
          <a:prstGeom prst="rect">
            <a:avLst/>
          </a:prstGeom>
          <a:solidFill>
            <a:srgbClr val="E0A92E"/>
          </a:solidFill>
          <a:ln w="12700">
            <a:solidFill>
              <a:srgbClr val="E0A92E"/>
            </a:solidFill>
            <a:prstDash val="solid"/>
          </a:ln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T" sz="1013"/>
          </a:p>
        </p:txBody>
      </p:sp>
      <p:sp>
        <p:nvSpPr>
          <p:cNvPr id="8" name="Text 5"/>
          <p:cNvSpPr/>
          <p:nvPr/>
        </p:nvSpPr>
        <p:spPr>
          <a:xfrm>
            <a:off x="582930" y="4629150"/>
            <a:ext cx="8126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</a:t>
            </a:r>
            <a:r>
              <a:rPr lang="en-US" sz="10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one item, </a:t>
            </a:r>
            <a:r>
              <a:rPr lang="en-US" sz="1050" b="1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.extend</a:t>
            </a:r>
            <a:r>
              <a:rPr lang="en-US" sz="10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many — mixing them up is the classic beginner trap.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377190" y="5020056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750"/>
          </a:p>
        </p:txBody>
      </p:sp>
      <p:sp>
        <p:nvSpPr>
          <p:cNvPr id="10" name="Text 7"/>
          <p:cNvSpPr/>
          <p:nvPr/>
        </p:nvSpPr>
        <p:spPr>
          <a:xfrm>
            <a:off x="8058150" y="5020056"/>
            <a:ext cx="685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240230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Ordered and mutable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77071"/>
            <a:ext cx="8229600" cy="26517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fruits[0]              # 'apple'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fruits.append("date")   # add to end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fruits[1] = "berry"     # replace (lists are mutable)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len(fruits)            # 4</a:t>
            </a:r>
            <a:endParaRPr lang="en-US" sz="1300"/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"apple" in fruits  # True</a:t>
            </a:r>
            <a:endParaRPr lang="en-US" sz="1300">
              <a:latin typeface="Consola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2D7D9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16052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  .append()  ·  .remove()  ·  .pop()  ·  .sort()  ·  .reverse()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TUPLE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 [ ]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items will change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scores over time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playlist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  ( )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items should NOT change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color (255, 0, 0)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days_of_week (fixed 7)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14800"/>
            <a:ext cx="73152" cy="594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519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faster and safer — they signal "this collection is fixed."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 &amp; Sets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lookups by key or uniqueness.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0861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kern="0" spc="600">
                <a:solidFill>
                  <a:srgbClr val="2E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54864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425196" y="1220724"/>
            <a:ext cx="109728" cy="109728"/>
          </a:xfrm>
          <a:prstGeom prst="ellipse">
            <a:avLst/>
          </a:prstGeom>
          <a:solidFill>
            <a:srgbClr val="E0A92E"/>
          </a:solidFill>
          <a:ln w="12700">
            <a:solidFill>
              <a:srgbClr val="E0A92E"/>
            </a:solidFill>
            <a:prstDash val="solid"/>
          </a:ln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T" sz="1013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77190" y="1405890"/>
          <a:ext cx="8366760" cy="326136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d[k]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up value at key 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= {'a': 1, 'b': 2}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d['a']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d[k] = v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or overwrite key 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= {'a': 1}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d['b'] = 2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{'a': 1, 'b': 2}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.get(k, default)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up safely; default if missing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= {'a': 1}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d.get('z', 0)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.keys()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of all keys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= {'a': 1, 'b': 2}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list(d.keys())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['a', 'b']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.values()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of all values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= {'a': 1, 'b': 2}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list(d.values())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2]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E7A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.pop(k)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key &amp; return its value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= {'a': 1, 'b': 2}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d.pop('a')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  → {'b': 2}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50" marR="1333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77190" y="4629150"/>
            <a:ext cx="8366760" cy="308610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T" sz="1013"/>
          </a:p>
        </p:txBody>
      </p:sp>
      <p:sp>
        <p:nvSpPr>
          <p:cNvPr id="7" name="Shape 4"/>
          <p:cNvSpPr/>
          <p:nvPr/>
        </p:nvSpPr>
        <p:spPr>
          <a:xfrm>
            <a:off x="377190" y="4629150"/>
            <a:ext cx="54864" cy="308610"/>
          </a:xfrm>
          <a:prstGeom prst="rect">
            <a:avLst/>
          </a:prstGeom>
          <a:solidFill>
            <a:srgbClr val="E0A92E"/>
          </a:solidFill>
          <a:ln w="12700">
            <a:solidFill>
              <a:srgbClr val="E0A92E"/>
            </a:solidFill>
            <a:prstDash val="solid"/>
          </a:ln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T" sz="1013"/>
          </a:p>
        </p:txBody>
      </p:sp>
      <p:sp>
        <p:nvSpPr>
          <p:cNvPr id="8" name="Text 5"/>
          <p:cNvSpPr/>
          <p:nvPr/>
        </p:nvSpPr>
        <p:spPr>
          <a:xfrm>
            <a:off x="582930" y="4629150"/>
            <a:ext cx="8126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d[k]</a:t>
            </a:r>
            <a:r>
              <a:rPr lang="en-US" sz="10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raises </a:t>
            </a:r>
            <a:r>
              <a:rPr lang="en-US" sz="1050" b="1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r>
              <a:rPr lang="en-US" sz="10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missing key — use </a:t>
            </a:r>
            <a:r>
              <a:rPr lang="en-US" sz="1050" b="1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.get()</a:t>
            </a:r>
            <a:r>
              <a:rPr lang="en-US" sz="10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 can't be sure the key exists.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377190" y="5020056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750"/>
          </a:p>
        </p:txBody>
      </p:sp>
      <p:sp>
        <p:nvSpPr>
          <p:cNvPr id="10" name="Text 7"/>
          <p:cNvSpPr/>
          <p:nvPr/>
        </p:nvSpPr>
        <p:spPr>
          <a:xfrm>
            <a:off x="8058150" y="5020056"/>
            <a:ext cx="685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399881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→ value mapping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26517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= {"name": "Ada", "age": 36, "job": "Mathematician"}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person["name"]              # 'Ada'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person["city"]              # KeyError!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person.get("city")          # None (no error)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person.get("city", "N/A")   # 'N/A' (default)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person["age"] = 37          # update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1605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 .get() for unknown keys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7909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indexing raises KeyError; .get() returns None (or a default) and keeps your program running.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Unordered and unique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246888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2, 3, 3, 3]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= set(nums)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{1, 2, 3}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 in {"python",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"java"}   # True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superpowers: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Deduplication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set(my_list) → unique items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Fast membership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'x in my_set' is much faster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than the same check on a list.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2D7D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233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operations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85800" y="4389120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| B (union)   A &amp; B (intersection)   A - B (difference).  Great for comparing groups of things.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Comprehensions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concise, readable way to build new lists.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Pythonic shortcut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Verbose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8288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[]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range(6):</a:t>
            </a:r>
            <a:endParaRPr lang="en-US" sz="1300"/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</a:t>
            </a:r>
            <a:r>
              <a:rPr lang="en-US" sz="13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squares.append</a:t>
            </a:r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(n * n)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1, 4, 9, 16, 25]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4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Pythonic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18288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373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[n * n for n in range(6)]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 filter: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[n for n in range(10)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n % 2 == 0]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947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85800" y="416052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expression  for item in iterable  if condition ]  —  the condition is optional.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Mutable default arguments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246888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add_item</a:t>
            </a:r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(item, bag=[]):     # ⚠️  default is shared!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</a:t>
            </a:r>
            <a:r>
              <a:rPr lang="en-US" sz="13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bag.append</a:t>
            </a:r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(item)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return bag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add_item</a:t>
            </a:r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("apple")      # ['apple']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add_item</a:t>
            </a:r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("banana")     # ['apple', 'banana']   ← surprise</a:t>
            </a:r>
            <a:endParaRPr lang="en-US" sz="1300">
              <a:latin typeface="Consola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776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None as the default, then create a new list inside:  def add_item(item, bag=None):  if bag is None:  bag = []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File Reading and Writing</a:t>
            </a:r>
            <a:endParaRPr lang="en-US" sz="400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text files, the safe way.</a:t>
            </a:r>
            <a:endParaRPr 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with statement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a file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open("notes.txt") as f:</a:t>
            </a:r>
            <a:endParaRPr lang="en-US" sz="1200"/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content = </a:t>
            </a:r>
            <a:r>
              <a:rPr lang="en-US" sz="12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f.read</a:t>
            </a:r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1200">
              <a:latin typeface="Consolas"/>
            </a:endParaRPr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Line by line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open("notes.txt") as f:</a:t>
            </a:r>
            <a:endParaRPr lang="en-US" sz="1200"/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for line in f:</a:t>
            </a:r>
            <a:endParaRPr lang="en-US" sz="1200">
              <a:latin typeface="Consolas"/>
            </a:endParaRPr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    print(</a:t>
            </a:r>
            <a:r>
              <a:rPr lang="en-US" sz="12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line.strip</a:t>
            </a:r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())</a:t>
            </a:r>
            <a:endParaRPr lang="en-US" sz="1200">
              <a:latin typeface="Consola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2860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a file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open("out.txt", "w") as f: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f.write("Hello\n")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f.write("World\n")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'w' overwrites,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'a' appends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49040"/>
            <a:ext cx="73152" cy="96012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862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with?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2519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 closes the file automatically, even if an error happens. Never open files without it.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Exercise — Word frequency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Given a sentence: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into words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each word using a dict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each word and its count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 i="1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ignore punctuation &amp; case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0175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"the cat and the dog"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{}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for word in </a:t>
            </a:r>
            <a:r>
              <a:rPr lang="en-US" sz="12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text.split</a:t>
            </a:r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():</a:t>
            </a:r>
            <a:endParaRPr lang="en-US" sz="1200">
              <a:latin typeface="Consolas"/>
              <a:ea typeface="Calibri" panose="020F0502020204030204"/>
              <a:cs typeface="Calibri" panose="020F0502020204030204"/>
            </a:endParaRPr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counts[word] = \</a:t>
            </a:r>
            <a:endParaRPr lang="en-US" sz="1200">
              <a:latin typeface="Consolas"/>
            </a:endParaRPr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</a:t>
            </a:r>
            <a:r>
              <a:rPr lang="en-US" sz="120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counts.get</a:t>
            </a:r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(word, 0) + 1</a:t>
            </a:r>
            <a:endParaRPr lang="en-US" sz="1200">
              <a:latin typeface="Consolas"/>
            </a:endParaRPr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/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print(counts)</a:t>
            </a:r>
            <a:endParaRPr lang="en-US" sz="1200">
              <a:latin typeface="Consola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402336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297680"/>
            <a:ext cx="73152" cy="411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4348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exercise sheet: see Day 3 Worksheet handout.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learned today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533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change; tuples don't — choose by intent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56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86868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 store key → value; use .get() to avoid KeyError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9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give you uniqueness and fast membership tests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62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868680" y="2862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comprehensions: [expr for item in iterable if cond]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64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868680" y="3364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 args are a classic trap — use None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67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868680" y="3867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open files with `with` — it closes them for you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3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Day 3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NumPy and Pandas — scientific Python starts here.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— Data Structures</dc:title>
  <dc:subject>PptxGenJS Presentation</dc:subject>
  <dc:creator>Introduction to Python</dc:creator>
  <cp:revision>1</cp:revision>
  <dcterms:created xsi:type="dcterms:W3CDTF">2026-04-22T22:28:46Z</dcterms:created>
  <dcterms:modified xsi:type="dcterms:W3CDTF">2026-04-29T14:31:00Z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2026-04-29T11:14:14Z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09839d39-20e6-405d-8c08-dbc5e1ab3b3b</vt:lpwstr>
  </property>
  <property fmtid="{D5CDD505-2E9C-101B-9397-08002B2CF9AE}" pid="7" name="MSIP_Label_defa4170-0d19-0005-0004-bc88714345d2_ActionId">
    <vt:lpwstr>e185622d-2712-427f-94d6-9ae61d3dad90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
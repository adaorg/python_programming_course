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76" r:id="rId10"/>
    <p:sldId id="277" r:id="rId11"/>
    <p:sldId id="278" r:id="rId12"/>
    <p:sldId id="261" r:id="rId13"/>
    <p:sldId id="270" r:id="rId14"/>
    <p:sldId id="271" r:id="rId15"/>
    <p:sldId id="272" r:id="rId16"/>
    <p:sldId id="262" r:id="rId17"/>
    <p:sldId id="279" r:id="rId18"/>
    <p:sldId id="280" r:id="rId19"/>
    <p:sldId id="281" r:id="rId20"/>
    <p:sldId id="263" r:id="rId21"/>
    <p:sldId id="282" r:id="rId22"/>
    <p:sldId id="283" r:id="rId23"/>
    <p:sldId id="284" r:id="rId24"/>
    <p:sldId id="264" r:id="rId25"/>
    <p:sldId id="285" r:id="rId26"/>
    <p:sldId id="266" r:id="rId27"/>
    <p:sldId id="286" r:id="rId28"/>
    <p:sldId id="265" r:id="rId29"/>
    <p:sldId id="287" r:id="rId30"/>
    <p:sldId id="288" r:id="rId31"/>
    <p:sldId id="268" r:id="rId32"/>
    <p:sldId id="269" r:id="rId33"/>
    <p:sldId id="267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da Silva Santos" userId="S::joao.santos@gimm.pt::1f5cc2bd-5f8d-4df4-b23f-ee79078e001f" providerId="AD" clId="Web-{EDE1F2C1-5563-9D5C-2483-1E0A4316F5AE}"/>
    <pc:docChg chg="mod">
      <pc:chgData name="João da Silva Santos" userId="S::joao.santos@gimm.pt::1f5cc2bd-5f8d-4df4-b23f-ee79078e001f" providerId="AD" clId="Web-{EDE1F2C1-5563-9D5C-2483-1E0A4316F5AE}" dt="2026-04-29T11:19:21.714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07079-F738-4A5F-A332-3370C1C6FDFC}" type="datetimeFigureOut">
              <a:t>5/6/2026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73150-E91B-4A92-85DD-DF7634DE0FF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6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NumPy &amp; Pandas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 arrays to real data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COURSE · DAY 4 OF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NumPy?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Arrays &amp; shapes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ndim, shape, dtype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Broadcasting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bit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in 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.loc vs .iloc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vs position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17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groupby + missing data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power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scientific Python.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NumPy exists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loop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7373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3, 4]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[10, 20, 30, 40]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[]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range(len(a)):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c.append(a[i] + b[i])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4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vectorized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17373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30, 40])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      # done.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73152" cy="114300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and clearer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7909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runs the loop in C, not Python. On large arrays this is 10–100× faster, and the code reads the way you'd describe the math.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Shape, dimensions, dtype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6517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 [4, 5, 6]])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a.shape     # (2, 3) — 2 rows, 3 columns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a.ndim      # 2       — 2D array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a.dtype     # int64   — element type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a.size      # 6       — total elements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2D7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.shape is your </a:t>
            </a:r>
            <a:r>
              <a:rPr lang="en-001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</a:t>
            </a: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When something breaks, print .shape first.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74320" y="15544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NumPy Operations — Vectorised Biology</a:t>
            </a:r>
            <a:endParaRPr lang="en-US" sz="2200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apply to every element at once — no loops needed: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39"/>
            <a:ext cx="5577840" cy="3485271"/>
          </a:xfrm>
          <a:prstGeom prst="rect">
            <a:avLst/>
          </a:prstGeom>
          <a:solidFill>
            <a:srgbClr val="0F2A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5767754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counts before &amp; after treatment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np.array([120, 95, 140, 88, 165])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= np.array([145, 102, 139, 97, 180])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in cell count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 = after - before           # [25, 7, -1, 9, 15]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Percent change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(delta / before) * 100     # [20.8, 7.4, -0.7, 10.2, 9.1]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Log-transform expression data (common in RNA-seq)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 = np.array([1, 10, 100, 1000, 10000])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log_expr = np.log2(expr)         # [0, 3.32, 6.64, 9.97, 13.29]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 cells above threshold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after[after &gt; 140]        # [145, 180] — boolean indexing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Statistics</a:t>
            </a:r>
            <a:endParaRPr lang="en-US" sz="11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A8D5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print(pct.mean(), pct.std())     # 9.4  7.2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04916" y="123444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042076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➖ ✖️ ➗ Element-wise math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2076" y="15544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every element simultaneously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04916" y="2075688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042076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np.log2() Math functions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42076" y="2395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normalising count 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04916" y="2916936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042076" y="2962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Boolean index Smart filtering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42076" y="32369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elements meeting a condition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04916" y="3758184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42076" y="3803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.mean() .std() Statistics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42076" y="40782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descriptive stats — no extra imports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Element-wise arithmetic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534924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50749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Glucose (mmol/L) for 5 patients: fasting vs post-meal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fasting   = np.array([5.2, 6.8, 4.9,  7.3, 5.5])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post_meal = np.array([7.1, 9.4, 6.3, 11.2, 8.0])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operator applies element-wise — no loop needed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rise      = post_meal - fasting   # [1.9, 2.6, 1.4, 3.9, 2.5]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    = post_meal / fasting   # [1.37, 1.38, 1.29, 1.53…]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mg_per_dL = fasting * 18.0        # scalar: *18 every element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   = rise ** 2             # exponentiation element-wise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Operators:  +  −  *  /  **  //  %   all work element-wise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316736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1316736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17336" y="14081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➕  + − * / ** // 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17336" y="16642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Python operators work element-wise on same-shape arrays.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66544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989320" y="2066544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No Python loops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17336" y="2414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runs in compiled C — 10–100× faster than an equivalent for-loop.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816352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816352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17336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📐  Scalars broadcast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17336" y="31638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* 18.0 multiplies every element by 18 — no need to tile the scalar.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566160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17336" y="36576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Chaining works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3913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(post_meal − fasting) / fasting gives relative rise in one expression.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15968"/>
            <a:ext cx="832104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029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700016"/>
            <a:ext cx="806500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whole arrays, not individual values. Replace every for-loop over patients, samples, or genes with a single vectorised expression.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Vectorised math functions (ufuncs)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534924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50749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RNA-seq raw counts for 6 genes in one sample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np.array([1, 10, 100, 500, 1000, 50000])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Log2 transform — standard in expression data (+1 avoids log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log2_c = np.log2(counts + 1)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[1.0,  3.46,  6.66,  8.97,  9.97, 15.61]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Other ufuncs used in biology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np.sqrt(counts)        # variance-stabilising transform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np.exp(log2_c)         # reverse a log transform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np.log10(counts + 1)   # pH, absorbance, OD600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np.abs(delta)          # magnitude regardless of sign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 math.log2(counts) → TypeError  — math.* only works on scalars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316736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1316736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17336" y="14081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np.log2 / np.log10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17336" y="16642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 for expression (1 unit = 2-fold change). log10 for pH, absorbance.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66544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989320" y="2066544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🧮  ufuncs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17336" y="2414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functions operate element-wise and return a same-shape array.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816352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816352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17336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 Pseudocount +1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17336" y="31638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1 before log-transforming counts to avoid log(0) = −∞.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566160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17336" y="36576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math.* won't work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3913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math module only handles scalars. Use np.* for arrays.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15968"/>
            <a:ext cx="832104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029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700016"/>
            <a:ext cx="806500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ufuncs are the vectorised equivalents of Python's math.log2(), math.sqrt() etc. They apply in one call to every element and return the same shape.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Boolean indexing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534924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50749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viability (%) across 7 wells in a plate assay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viability = np.array([92, 45, 78, 11, 88, 63, 31])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 — comparison produces a boolean array (mask)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viability &gt; 60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[True, False, True, False, True, True, False]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— pass mask as index to select True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viable = viability[mask]        # → [92, 78, 88, 63]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Combine conditions with  &amp;  |  ~  (NOT 'and' / 'or'!)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 = viability[(viability&gt;40) &amp; (viability&lt;80)]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[45, 78, 63]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 viability[viability&gt;40 and viability&lt;80] → ValueError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316736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1316736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17336" y="14081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🎭  Mask = bool array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17336" y="16642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(&gt;, ==, !=, …) return a same-shape array of True/False.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66544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989320" y="2066544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Fancy indexing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17336" y="2414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 boolean array as an index extracts only the True elements.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816352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816352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17336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&amp; | ~ not and/or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17336" y="31638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bitwise operators for compound conditions. Wrap each side in parentheses!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566160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17336" y="36576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np.where(cond,a,b)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3913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if/else: returns a where True, b where False.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15968"/>
            <a:ext cx="832104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029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Gotcha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700016"/>
            <a:ext cx="806500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and | (bitwise operators), NOT Python's and / or keywords. Python's and / or short-circuit on the whole array and raise a ValueError. Always wrap each condition in parentheses.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 &amp; descriptive statistics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534924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50749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Lizard body temperature (°C) — before vs after sun exposure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np.array(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[[32.1,33.5,31.8,34.2,33.0,32.7,31.5,34.9],  # before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[36.3,37.8,35.9,38.1,37.2,36.8,35.4,38.6]]) # after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(2, 8)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temp.mean()              # 35.24 — grand mean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temp.mean(axis=1)        # [32.96, 37.01] — per condition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temp.mean(axis=0)        # per lizard across conditions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temp.std()               # standard deviation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temp.min(), temp.max()   # 31.5,  38.6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np.percentile(temp,[25,50,75])   # quartiles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np.argmax(temp[1])       # index of hottest lizard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316736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1316736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17336" y="14081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📉  .mean() .std() .var()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17336" y="16642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descriptive stats — no scipy needed for these.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66544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989320" y="2066544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axis= parameter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17336" y="2414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→ result per column; axis=1 → result per row. Omit to collapse all.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816352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816352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17336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argmin / argmax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17336" y="31638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index of the extremum — useful to find which sample peaked.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566160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17336" y="36576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np.percentile()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3913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Quartiles, IQR, and any threshold — essential for outlier detection.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15968"/>
            <a:ext cx="832104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029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700016"/>
            <a:ext cx="806500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aggregates down the rows (gives one value per column); axis=1 aggregates across the columns (gives one value per row). Omitting axis= collapses the entire array to a scalar.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Fancy indexing &amp; np.where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316736"/>
            <a:ext cx="534924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76072" y="1426464"/>
            <a:ext cx="50749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Species richness at 6 survey sites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richness = np.array([12,  3, 27,  8, 19,  5])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sites    = np.array(['A','B','C','D','E','F'])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Fancy indexing — pick elements by integer array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top3 = richness[[2, 4, 0]]    # → [27, 19, 12]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np.where(cond, a, b) — vectorised if/else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np.where(richness &gt;= 10, 'diverse', 'depauperate')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['diverse','depauperate','diverse',…]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np.where(cond) — returns indices where 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np.where(richness &gt; 10)  # → (array([0,2,4]),)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sites[idx]  # → ['A','C','E']  high-richness sites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89320" y="1316736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1316736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117336" y="14081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🔢  Integer array index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17336" y="16642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list of indices to pick elements in any order — repeats allowed.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2066544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989320" y="2066544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21579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🔀  np.where(cond,a,b)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17336" y="2414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Vectorised ternary: a where condition is True, b where False.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816352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989320" y="2816352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17336" y="29077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 np.where(cond)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17336" y="31638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One-arg form returns a tuple of index arrays — use to find positions of True.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3566160"/>
            <a:ext cx="2834640" cy="694944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989320" y="3566160"/>
            <a:ext cx="41148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117336" y="36576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np.argsort()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3913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indices that would sort the array — great for ranking sites/samples.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315968"/>
            <a:ext cx="832104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11480" y="4315968"/>
            <a:ext cx="5029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76072" y="4398264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76072" y="4700016"/>
            <a:ext cx="806500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np.where(cond, x, y) is a vectorised if/else — recode or label an entire array without a loop. Called with one argument it returns indices where the condition is True, which you can use to index another array.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on different shapes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4688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 2, 3],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   # shape (2, 3)</a:t>
            </a:r>
            <a:endParaRPr lang="en-001" sz="1300" dirty="0">
              <a:solidFill>
                <a:srgbClr val="E8F1F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  # shape (3,)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                    # b is stretched across each row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[[11, 22, 33],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[14, 25, 36]]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3886198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2589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aligns shapes from the right. Dimensions match if they are equal OR one of them is 1.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 expression across samples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80467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 expression matrix: 4 genes × 6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 = np.array([[12.3, 9.1, 15.2, 8.7, 11.0, 14.5],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[ 3.2, 3.8,  2.9, 4.1,  3.5,  3.0],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[22.0,18.4, 25.1,19.9, 21.3, 23.8],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[ 7.5, 6.9,  8.2, 7.0,  7.8,  8.0]])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(4, 6)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Mean expression per gene (per row)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gene_means = expr.mean(axis=1)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(4,)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Normalise: subtract each gene's mean — broadcasting aligns on axis=0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normalised = expr - gene_means[:, </a:t>
            </a: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np.newaxis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(4, 6)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 expr - gene_means  → ValueError: could not broadcast (4,6) with (4,)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4251960"/>
            <a:ext cx="5029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76072" y="4343400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4617720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aligns shapes from the right. Use [:, np.newaxis] to reshape a (4,) vector to (4, 1) so it subtracts row-wise across all 6 columns.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5528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· GOTCHA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trait data: axis confusion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80467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Body measurements for 5 species × 3 traits (length, mass, temp)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traits = np.array([[0.8, 1.2, 36.5],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[2.1, 8.4, 38.2],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[0.3, 0.1, 37.9],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[4.5,22.0, 39.1],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[1.2, 3.3, 37.5]])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(5, 3)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Scale factors for each TRAIT (not each species)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= np.array([100, 1000, 1])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(3,) — multiply length→cm, mass→g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= traits * scale  </a:t>
            </a:r>
            <a:r>
              <a:rPr lang="en-US" sz="11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 (5,3)*(3,) — broadcasts over rows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GOTCHA: if scale.shape == (5,) it multiplies SPECIES, not traits!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Always check: scale.shape → (3,) not (5,)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4251960"/>
            <a:ext cx="5029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76072" y="4343400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Gotcha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4617720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(5,) scale vector silently broadcasts over rows (species), not columns (traits). Always verify .shape before multiplying — the operation won't error, it just does the wrong biology.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5528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· ADVANCED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all time points pairwise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8872" cy="118872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2633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481328"/>
            <a:ext cx="804672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Protein concentration (µM) measured at 6 time 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 = np.array([0.5, 1.2, 3.4, 6.1, 5.8, 4.2])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(6,)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Pairwise differences between every pair of time 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= conc[:, </a:t>
            </a: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np.newaxis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- conc[</a:t>
            </a:r>
            <a:r>
              <a:rPr lang="en-US" sz="11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np.newaxis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:]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(6,1) - (1,6) → (6,6)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Which pairs differ by more than 2 µM?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big_change = np.abs(diff) &gt; 2.0  </a:t>
            </a:r>
            <a:r>
              <a:rPr lang="en-US" sz="1100" dirty="0">
                <a:solidFill>
                  <a:srgbClr val="7FB3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shape (6,6) boolean mask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❌ GOTCHA: diff.shape is (6,6) — not (6,) — easy to mistake for a 1-D result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4251960"/>
            <a:ext cx="8321040" cy="68580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11480" y="4251960"/>
            <a:ext cx="50292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76072" y="4287128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4561448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 new axis with np.newaxis promotes 1-D arrays to column or row vectors, enabling outer operations. Result shape is always the broadcast of both operands — here (6, 1) and (1, 6) give a (6, 6) matrix.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646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55280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— a spreadsheet that talks back.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pandas: Python Data Analysis Library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 CSV of gene expression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pd.read_csv("expression_data.csv")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Instantly see the shape of your dataset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 # (1200, 48) — 1200 genes, 48 samples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look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df.head(3)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Built for tabular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supercharged spreadsheet inside Python — rows are observations (samples, patients, species), columns are variables.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Built on NumPy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computations run in compiled C — vectorised, fast, no Python loops needed.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Common in biology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RNA-seq tables, ecological surveys, clinical trial data, and proteomics.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turns messy biological datasets into clean, queryable tables in a few lines of code.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— a labelled 1-D array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 expression levels across 5 tissue samples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 = pd.Series(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[12.4, 8.1, 23.9, 5.7, 17.2],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index=["liver","lung","kidney","brain","heart"],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name="BRCA1_expression"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 access — like a dictionary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expression["kidney"]   # 23.9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filter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expression[expression &gt; 10]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liver  12.4   kidney  23.9   heart  17.2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Named index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has a label (tissue name, gene ID, sample ID) — no need to remember position numbers.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Arithmetic is vectorised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* 2 scales every value at once — equivalent to a for-loop but 100× faster.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Foundation of DataFrame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of a DataFrame is a Series — understanding Series is the key to everything else.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Series as a column in a lab notebook, where every row already knows its sample name.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— your spreadsheet in Python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Species survey data from 4 plots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 = pd.DataFrame({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"species":    ["Acer rubrum","Quercus alba","Pinus strobus","Betula papyrifera"],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"height_m":  [12.3, 18.7, 24.1, 9.8],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"dbh_cm":    [22, 41, 55, 17],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"plot":      ["A","A","B","B"]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survey.dtypes   # species object, height_m float64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survey.shape    # (4, 4)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Rows = observations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specimen, patient, site, or gene — whatever your unit of study is.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Columns = variables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types allowed: strings for species names, floats for measurements, integers for counts.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From any source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from dicts, lists, NumPy arrays, CSV, Excel, SQL — whatever your data lives in.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the digital equivalent of a field data sheet — rows are individuals, columns are measurements.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spreadsheet in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pd.read_csv("titanic.csv")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# first 5 rows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# (rows, columns)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# types + non-null counts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# summary statistics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73152" cy="914400"/>
          </a:xfrm>
          <a:prstGeom prst="rect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393192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4 commands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head, shape, info, describe — run these on any new dataset before touching anything else. They answer: what's here, how much, what types, what shape.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Reading 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pd.read_csv("patient_counts.csv")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pd.read_excel("morphology_data.xlsx", sheet_name="Sheet1")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pd.read_csv("samples.tsv", sep="\t")  # tab-separated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Common options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pd.read_csv("data.csv",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index_col="sample_id",  # use a column as row 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na_values=["-", "N/A"]) # treat these as missing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Writing 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df.to_csv("results_clean.csv", index=False)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df.to_excel("summary.xlsx", sheet_name="Results")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CSV is king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bioinformatics pipelines output CSV or TSV — read_csv handles both with the sep argument.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Excel support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read_excel reads multi-sheet workbooks directly — no manual copy-paste from lab notebooks.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Missing values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biological data has gaps. Declare missing codes (–, N/A, 9999) on read so pandas handles them correctly.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declare missing-value codes at read time — catching them early prevents silent errors later.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 at a new dataset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pd.read_csv("bird_survey.csv")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# (843, 12) — 843 records, 12 columns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      # species object, wingspan float64 ...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df.head(5)     # first 5 rows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df.tail(3)     # last 3 rows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Summary statistics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 mean   std    min  25%  50%  75%  max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wingspan:  843  47.3  12.1  18  39  46  56  91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# non-null counts + dtypes + memory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shape first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(rows, columns) before anything else — surprises here (e.g. 80k rows) change your approach.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describe() is powerful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min, max, mean, quartiles for every numeric column — catch outliers and impossible values immediately.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info() finds gaps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non-null count per column — any column with fewer non-nulls than rows has missing data.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5 minutes on head(), info(), and describe() before writing any analysis code — it saves hours.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&amp; filtering rows and columns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Columns 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df["wingspan"]           # single column → Series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df[["species","mass"]]   # multiple columns → DataFrame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Rows: .loc (label) vs .iloc (position) 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df.loc[0:4, "wingspan"]           # rows 0-4 by label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df.iloc[0:4, 2]                   # rows 0-4, col index 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Boolean filter 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migratory species heavier than 200 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df[(df["mass_g"] &gt; 200) &amp; (df["migratory"] == True)]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isin — restrict to target species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targets = ["Falco peregrinus", "Aquila chrysaetos"]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df[df["species"].isin(targets)]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.loc — use labels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.loc when you know column names or row labels. Safer for named indexes (e.g. gene IDs).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.iloc — use positions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.iloc when you need the 1st, last, or nth row — works like Python list slicing.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Combine conditions with &amp; |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(and) and | (or) for multi-condition filters. Wrap each condition in parentheses.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filtering replaces manual row-by-row inspection — select all treatment samples in one expression.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.loc vs .iloc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7432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"age"]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df.loc[:, "name"]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df.loc[df["age"] &gt; 30]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27432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.iloc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2]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df.iloc[:5]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df.iloc[-1]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2D7D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5800" y="425196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uses column names and index labels.  .iloc uses integer positions (0, 1, 2…).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Ecological survey — some measurements not recorded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body_mass_g     14     ← 14 samples not weighed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tail_length_mm  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sex              0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1: drop rows missing key measurement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df_complete = df.dropna(subset=["body_mass_g"])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2: fill with column mean (imputation)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df["body_mass_g"] = df["body_mass_g"].fillna(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df["body_mass_g"].mean()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3: fill by group mean (smarter)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df["body_mass_g"] = df.groupby("species")["body_mass_g"]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.transform(lambda x: x.fillna(x.mean()))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Always detect first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isna().sum() gives missing counts per column — know the scale of the problem before deciding how to handle 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dropna — when to use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only when missingness is random and you can afford to lose records. Don't drop if data is scarce.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fillna — imputation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Mean/median imputation preserves sample size. Group-mean imputation (by species, treatment) is more biologically valid.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field biology, missing data is the rule, not the exception — choose your strategy deliberately, not by default.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NaN, dropna, fillna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            # how many NaN per column?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              # drop rows with any NaN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df.dropna(subset=["Age"])  # drop only if Age is NaN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df["Age"].fillna(df["Age"].median())  # fill with median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before you 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43484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rows is simple but loses data. Filling is safer but requires choosing what to fill with. Always check .isna().sum() first.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renaming &amp; transforming columns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3145536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Morphometric dataset: length &amp; mass measurements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a new derived column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df["bmi"] = df["mass_g"] / (df["length_cm"] / 100) ** 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columns to be more descriptive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df.rename(columns={"L": "length_cm", "M": "mass_g"})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a column you don\'t need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df.drop(columns=["notes_raw"])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apply() — custom function per row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classify_size(row):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"large" if row["mass_g"] &gt; 500 else "small"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df["size_class"] = df.apply(classify_size, axis=1)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body mass descending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df.sort_values("mass_g", ascending=False)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Derived columns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BMI, log-transform expression values, calculate ratios — all vectorised, no loops.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rename early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cryptic column names (L, M, T1) as soon as you load the data — future you will be grateful.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apply() for custom logic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vectorised operators aren't enough, apply() runs any Python function row-by-row or column-by-column.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raw columns, derive new ones — you can always recompute; you can't un-overwrite the original.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groupby — the real power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4688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Survival rate per passenger class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df.groupby("Pclass")["Survived"].mean()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statistics at once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df.groupby("Sex").agg({"Age": "mean", "Fare": "sum"})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Multi-column grouping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df.groupby(["Sex", "Pclass"])["Survived"].mean()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Split–apply–combine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splits data into groups, applies a function to each, and combines the results. It's the engine behind most real data analysis.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aggregation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Mammal trapping survey — multiple sites &amp; species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 body mass per species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df.groupby("species")["mass_g"].mean()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 at once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df.groupby("species")["mass_g"].agg(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n="count", mean="mean", sd="std", max="max"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two variables: species × habitat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df.groupby(["species","habitat"])["mass_g"].mean()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occurrences (species richness per site)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df.groupby("site")["species"].nunique()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site_A  12   site_B  9   site_C  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Split–apply–combine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splits data into groups, you apply a function, pandas combines the results — like pivot tables but in code.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203911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203911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2112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agg() for multi-stats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33172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count, mean, SD, min, and max in a single call — perfect for summary tables in a results section.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999232"/>
            <a:ext cx="29718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999232"/>
            <a:ext cx="36576" cy="868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30723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Multi-level grouping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3291840"/>
            <a:ext cx="2788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species AND site simultaneously to detect interaction effects before formal statistics.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is the pandas equivalent of a pivot table — master it and most summary statistics become one-liners.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bumblebee colony survey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5212080" cy="2999232"/>
          </a:xfrm>
          <a:prstGeom prst="rect">
            <a:avLst/>
          </a:prstGeom>
          <a:solidFill>
            <a:srgbClr val="0D1117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76072" y="1243584"/>
            <a:ext cx="493776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pd.read_csv("bumblebee_colonies.csv")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print(df.shape, df.dtypes)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Clean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df.dropna(subset=["queen_mass_mg"])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df["log_mass"] = df["queen_mass_mg"].apply(lambda x: x**0.5)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Filter — keep only Bombus terrestris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 = df[df["species"] == "Bombus terrestris"]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Summarise — mean mass by habitat type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bt.groupby("habitat")["queen_mass_mg"].agg(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n="count", mean="mean", sd="std"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).round(2)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Save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result.to_csv("bt_habitat_summary.csv")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078992"/>
            <a:ext cx="2971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760720" y="1078992"/>
            <a:ext cx="36576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88736" y="115214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Load → Inspect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88736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+ dtypes catch import errors immediately — wrong delimiter, extra blank rows, merged cells.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1883664"/>
            <a:ext cx="2971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760720" y="1883664"/>
            <a:ext cx="36576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888736" y="195681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Clean → Transform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2176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 and derive new variables before any analysis step.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2688336"/>
            <a:ext cx="2971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760720" y="2688336"/>
            <a:ext cx="36576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888736" y="27614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Filter → Summarise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88736" y="29809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to your focal group, then aggregate — keeps code readable and reproducible.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60720" y="3493008"/>
            <a:ext cx="29718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760720" y="3493008"/>
            <a:ext cx="36576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888736" y="3566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Save results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88736" y="37856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clean summary tables directly — no copy-paste from the console into Excel.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279392"/>
            <a:ext cx="8321040" cy="621792"/>
          </a:xfrm>
          <a:prstGeom prst="rect">
            <a:avLst/>
          </a:prstGeom>
          <a:solidFill>
            <a:srgbClr val="FEF9EE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11480" y="427939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94360" y="431596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</a:t>
            </a: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— load, clean, filter, summarise, save — solve 80% of real biological data problems.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95604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Pandas · Session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956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learned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are vectorized — much faster than Python loops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.shape whenever something unexpected happens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stretches smaller shapes to align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head / info / describe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.loc is label-based, .iloc is position-based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867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is split–apply–combine — the bread and butter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 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Visualization — tell a story with your data.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Exercise — Dataset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Titanic or Iris: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with head/info/describe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missing values per column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one group-level stat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 subset and describe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i="1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compare two groups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pd.read_csv("titanic.csv")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df.groupby("Sex“</a:t>
            </a:r>
            <a:r>
              <a:rPr lang="en-001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["Survived"].mean()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402336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73152" cy="41148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exercise sheet: see Day 4 Worksheet handout.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5518</Words>
  <Application>Microsoft Office PowerPoint</Application>
  <PresentationFormat>On-screen Show (16:9)</PresentationFormat>
  <Paragraphs>683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Consolas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NumPy &amp; Pandas</dc:title>
  <dc:subject>PptxGenJS Presentation</dc:subject>
  <dc:creator>Introduction to Python</dc:creator>
  <cp:lastModifiedBy>Tiago Paixão</cp:lastModifiedBy>
  <cp:revision>4</cp:revision>
  <dcterms:created xsi:type="dcterms:W3CDTF">2026-04-22T22:28:47Z</dcterms:created>
  <dcterms:modified xsi:type="dcterms:W3CDTF">2026-05-07T14:34:28Z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2026-04-29T11:19:21Z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09839d39-20e6-405d-8c08-dbc5e1ab3b3b</vt:lpwstr>
  </property>
  <property fmtid="{D5CDD505-2E9C-101B-9397-08002B2CF9AE}" pid="7" name="MSIP_Label_defa4170-0d19-0005-0004-bc88714345d2_ActionId">
    <vt:lpwstr>65fd6583-6a72-446f-a700-7fc39557f599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